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8288000" cy="10287000"/>
  <p:notesSz cx="6858000" cy="9144000"/>
  <p:embeddedFontLst>
    <p:embeddedFont>
      <p:font typeface="Poppins" panose="00000500000000000000"/>
      <p:regular r:id="rId12"/>
    </p:embeddedFont>
    <p:embeddedFont>
      <p:font typeface="Efour Digital Pro" panose="02000500000000000000"/>
      <p:regular r:id="rId13"/>
    </p:embeddedFont>
    <p:embeddedFont>
      <p:font typeface="Poppins Bold" panose="00000800000000000000"/>
      <p:bold r:id="rId14"/>
    </p:embeddedFont>
    <p:embeddedFont>
      <p:font typeface="Calibri" panose="020F050202020403020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7.fntdata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-277200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/>
            <a:srcRect l="7333" r="7333"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289499" y="4713900"/>
            <a:ext cx="8115300" cy="3751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5300" spc="-105">
                <a:solidFill>
                  <a:srgbClr val="A4F0FD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El cerebro aprende con emoción, no con monotonía</a:t>
            </a:r>
            <a:endParaRPr lang="en-US" sz="5300" spc="-105">
              <a:solidFill>
                <a:srgbClr val="A4F0FD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7420"/>
              </a:lnSpc>
              <a:spcBef>
                <a:spcPct val="0"/>
              </a:spcBef>
            </a:pPr>
          </a:p>
        </p:txBody>
      </p:sp>
      <p:sp>
        <p:nvSpPr>
          <p:cNvPr id="5" name="TextBox 5"/>
          <p:cNvSpPr txBox="1"/>
          <p:nvPr/>
        </p:nvSpPr>
        <p:spPr>
          <a:xfrm>
            <a:off x="289499" y="839130"/>
            <a:ext cx="11078182" cy="406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sz="9600">
                <a:solidFill>
                  <a:srgbClr val="FFFFFF"/>
                </a:solidFill>
                <a:latin typeface="Efour Digital Pro" panose="02000500000000000000"/>
                <a:ea typeface="Efour Digital Pro" panose="02000500000000000000"/>
                <a:cs typeface="Efour Digital Pro" panose="02000500000000000000"/>
                <a:sym typeface="Efour Digital Pro" panose="02000500000000000000"/>
              </a:rPr>
              <a:t>Cápsula Neuro educativa </a:t>
            </a:r>
            <a:endParaRPr lang="en-US" sz="9600">
              <a:solidFill>
                <a:srgbClr val="FFFFFF"/>
              </a:solidFill>
              <a:latin typeface="Efour Digital Pro" panose="02000500000000000000"/>
              <a:ea typeface="Efour Digital Pro" panose="02000500000000000000"/>
              <a:cs typeface="Efour Digital Pro" panose="02000500000000000000"/>
              <a:sym typeface="Efour Digital Pro" panose="02000500000000000000"/>
            </a:endParaRPr>
          </a:p>
          <a:p>
            <a:pPr marL="0" lvl="0" indent="0" algn="l">
              <a:lnSpc>
                <a:spcPts val="1056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83622" y="2210597"/>
            <a:ext cx="7627178" cy="7627178"/>
          </a:xfrm>
          <a:custGeom>
            <a:avLst/>
            <a:gdLst/>
            <a:ahLst/>
            <a:cxnLst/>
            <a:rect l="l" t="t" r="r" b="b"/>
            <a:pathLst>
              <a:path w="7627178" h="7627178">
                <a:moveTo>
                  <a:pt x="0" y="0"/>
                </a:moveTo>
                <a:lnTo>
                  <a:pt x="7627178" y="0"/>
                </a:lnTo>
                <a:lnTo>
                  <a:pt x="7627178" y="7627177"/>
                </a:lnTo>
                <a:lnTo>
                  <a:pt x="0" y="762717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54080" y="2678537"/>
            <a:ext cx="9437121" cy="6919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4800" spc="552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Tu estudiante puede escuchar cada palabra que dices…</a:t>
            </a:r>
            <a:endParaRPr lang="en-US" sz="4800" spc="552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7200"/>
              </a:lnSpc>
            </a:pPr>
            <a:r>
              <a:rPr lang="en-US" sz="4800" spc="552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Pero si no hay emoción, muy poca información llegará al lugar donde se aprende de verdad.</a:t>
            </a:r>
            <a:endParaRPr lang="en-US" sz="4800" spc="552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>
              <a:lnSpc>
                <a:spcPts val="3700"/>
              </a:lnSpc>
              <a:spcBef>
                <a:spcPct val="0"/>
              </a:spcBef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1028700" y="1028700"/>
            <a:ext cx="14503646" cy="118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35"/>
              </a:lnSpc>
              <a:spcBef>
                <a:spcPct val="0"/>
              </a:spcBef>
            </a:pPr>
            <a:r>
              <a:rPr lang="en-US" sz="7780">
                <a:solidFill>
                  <a:srgbClr val="415AC6"/>
                </a:solidFill>
                <a:latin typeface="Efour Digital Pro" panose="02000500000000000000"/>
                <a:ea typeface="Efour Digital Pro" panose="02000500000000000000"/>
                <a:cs typeface="Efour Digital Pro" panose="02000500000000000000"/>
                <a:sym typeface="Efour Digital Pro" panose="02000500000000000000"/>
              </a:rPr>
              <a:t>🔍 ¿Sabías que…?</a:t>
            </a:r>
            <a:endParaRPr lang="en-US" sz="7780">
              <a:solidFill>
                <a:srgbClr val="415AC6"/>
              </a:solidFill>
              <a:latin typeface="Efour Digital Pro" panose="02000500000000000000"/>
              <a:ea typeface="Efour Digital Pro" panose="02000500000000000000"/>
              <a:cs typeface="Efour Digital Pro" panose="02000500000000000000"/>
              <a:sym typeface="Efour Digital Pro" panose="020005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/>
            <a:srcRect l="5555" r="5555"/>
            <a:stretch>
              <a:fillRect/>
            </a:stretch>
          </p:blipFill>
          <p:spPr>
            <a:xfrm>
              <a:off x="0" y="0"/>
              <a:ext cx="12192000" cy="13716000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1028700" y="2128886"/>
            <a:ext cx="7259959" cy="5923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316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Todo lo que entra por los sentidos pasa primero por el sistema límbico, especialmente la amígdala, que actúa como “filtro emocional”. Si el cerebro percibe algo como aburrido, irrelevante o amenazante, bloquea el acceso a la corteza prefrontal —la zona del pensamiento profundo, la memoria y el razonamiento.e.</a:t>
            </a:r>
            <a:endParaRPr lang="en-US" sz="316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87403" y="0"/>
            <a:ext cx="8823701" cy="2243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60"/>
              </a:lnSpc>
              <a:spcBef>
                <a:spcPct val="0"/>
              </a:spcBef>
            </a:pPr>
            <a:r>
              <a:rPr lang="en-US" sz="7380">
                <a:solidFill>
                  <a:srgbClr val="415AC6"/>
                </a:solidFill>
                <a:latin typeface="Efour Digital Pro" panose="02000500000000000000"/>
                <a:ea typeface="Efour Digital Pro" panose="02000500000000000000"/>
                <a:cs typeface="Efour Digital Pro" panose="02000500000000000000"/>
                <a:sym typeface="Efour Digital Pro" panose="02000500000000000000"/>
              </a:rPr>
              <a:t>🧠 Neurociencia detrás del aula:</a:t>
            </a:r>
            <a:endParaRPr lang="en-US" sz="7380">
              <a:solidFill>
                <a:srgbClr val="415AC6"/>
              </a:solidFill>
              <a:latin typeface="Efour Digital Pro" panose="02000500000000000000"/>
              <a:ea typeface="Efour Digital Pro" panose="02000500000000000000"/>
              <a:cs typeface="Efour Digital Pro" panose="02000500000000000000"/>
              <a:sym typeface="Efour Digital Pro" panose="02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7280" y="8254326"/>
            <a:ext cx="9182798" cy="1267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20"/>
              </a:lnSpc>
            </a:pPr>
            <a:r>
              <a:rPr lang="en-US" sz="3560" b="1">
                <a:solidFill>
                  <a:srgbClr val="415AC6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👉 En otras palabras: sin emoción, no hay aprendizaje duradero.</a:t>
            </a:r>
            <a:endParaRPr lang="en-US" sz="3560" b="1">
              <a:solidFill>
                <a:srgbClr val="415AC6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3157917"/>
            <a:ext cx="7101430" cy="2927837"/>
            <a:chOff x="0" y="0"/>
            <a:chExt cx="9468573" cy="3903783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0" y="0"/>
              <a:ext cx="9468573" cy="3903783"/>
              <a:chOff x="0" y="0"/>
              <a:chExt cx="1870335" cy="771118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870335" cy="771118"/>
              </a:xfrm>
              <a:custGeom>
                <a:avLst/>
                <a:gdLst/>
                <a:ahLst/>
                <a:cxnLst/>
                <a:rect l="l" t="t" r="r" b="b"/>
                <a:pathLst>
                  <a:path w="1870335" h="771118">
                    <a:moveTo>
                      <a:pt x="0" y="0"/>
                    </a:moveTo>
                    <a:lnTo>
                      <a:pt x="1870335" y="0"/>
                    </a:lnTo>
                    <a:lnTo>
                      <a:pt x="1870335" y="771118"/>
                    </a:lnTo>
                    <a:lnTo>
                      <a:pt x="0" y="771118"/>
                    </a:lnTo>
                    <a:close/>
                  </a:path>
                </a:pathLst>
              </a:custGeom>
              <a:solidFill>
                <a:srgbClr val="A4F0FD">
                  <a:alpha val="33725"/>
                </a:srgbClr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66675"/>
                <a:ext cx="1870335" cy="837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 rot="0">
              <a:off x="9352529" y="0"/>
              <a:ext cx="88900" cy="3903783"/>
              <a:chOff x="0" y="0"/>
              <a:chExt cx="17560" cy="77111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7560" cy="771118"/>
              </a:xfrm>
              <a:custGeom>
                <a:avLst/>
                <a:gdLst/>
                <a:ahLst/>
                <a:cxnLst/>
                <a:rect l="l" t="t" r="r" b="b"/>
                <a:pathLst>
                  <a:path w="17560" h="771118">
                    <a:moveTo>
                      <a:pt x="0" y="0"/>
                    </a:moveTo>
                    <a:lnTo>
                      <a:pt x="17560" y="0"/>
                    </a:lnTo>
                    <a:lnTo>
                      <a:pt x="17560" y="771118"/>
                    </a:lnTo>
                    <a:lnTo>
                      <a:pt x="0" y="771118"/>
                    </a:lnTo>
                    <a:close/>
                  </a:path>
                </a:pathLst>
              </a:custGeom>
              <a:solidFill>
                <a:srgbClr val="415AC6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66675"/>
                <a:ext cx="17560" cy="837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 rot="0">
            <a:off x="1028700" y="6330463"/>
            <a:ext cx="7101430" cy="2927837"/>
            <a:chOff x="0" y="0"/>
            <a:chExt cx="9468573" cy="3903783"/>
          </a:xfrm>
        </p:grpSpPr>
        <p:grpSp>
          <p:nvGrpSpPr>
            <p:cNvPr id="10" name="Group 10"/>
            <p:cNvGrpSpPr/>
            <p:nvPr/>
          </p:nvGrpSpPr>
          <p:grpSpPr>
            <a:xfrm rot="0">
              <a:off x="0" y="0"/>
              <a:ext cx="9468573" cy="3903783"/>
              <a:chOff x="0" y="0"/>
              <a:chExt cx="1870335" cy="77111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870335" cy="771118"/>
              </a:xfrm>
              <a:custGeom>
                <a:avLst/>
                <a:gdLst/>
                <a:ahLst/>
                <a:cxnLst/>
                <a:rect l="l" t="t" r="r" b="b"/>
                <a:pathLst>
                  <a:path w="1870335" h="771118">
                    <a:moveTo>
                      <a:pt x="0" y="0"/>
                    </a:moveTo>
                    <a:lnTo>
                      <a:pt x="1870335" y="0"/>
                    </a:lnTo>
                    <a:lnTo>
                      <a:pt x="1870335" y="771118"/>
                    </a:lnTo>
                    <a:lnTo>
                      <a:pt x="0" y="771118"/>
                    </a:lnTo>
                    <a:close/>
                  </a:path>
                </a:pathLst>
              </a:custGeom>
              <a:solidFill>
                <a:srgbClr val="A4F0FD">
                  <a:alpha val="33725"/>
                </a:srgbClr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66675"/>
                <a:ext cx="1870335" cy="837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9352529" y="0"/>
              <a:ext cx="88900" cy="3903783"/>
              <a:chOff x="0" y="0"/>
              <a:chExt cx="17560" cy="77111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7560" cy="771118"/>
              </a:xfrm>
              <a:custGeom>
                <a:avLst/>
                <a:gdLst/>
                <a:ahLst/>
                <a:cxnLst/>
                <a:rect l="l" t="t" r="r" b="b"/>
                <a:pathLst>
                  <a:path w="17560" h="771118">
                    <a:moveTo>
                      <a:pt x="0" y="0"/>
                    </a:moveTo>
                    <a:lnTo>
                      <a:pt x="17560" y="0"/>
                    </a:lnTo>
                    <a:lnTo>
                      <a:pt x="17560" y="771118"/>
                    </a:lnTo>
                    <a:lnTo>
                      <a:pt x="0" y="771118"/>
                    </a:lnTo>
                    <a:close/>
                  </a:path>
                </a:pathLst>
              </a:custGeom>
              <a:solidFill>
                <a:srgbClr val="415AC6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66675"/>
                <a:ext cx="17560" cy="837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 rot="0">
            <a:off x="8747735" y="3157917"/>
            <a:ext cx="7101430" cy="2927837"/>
            <a:chOff x="0" y="0"/>
            <a:chExt cx="9468573" cy="3903783"/>
          </a:xfrm>
        </p:grpSpPr>
        <p:grpSp>
          <p:nvGrpSpPr>
            <p:cNvPr id="17" name="Group 17"/>
            <p:cNvGrpSpPr/>
            <p:nvPr/>
          </p:nvGrpSpPr>
          <p:grpSpPr>
            <a:xfrm rot="0">
              <a:off x="0" y="0"/>
              <a:ext cx="9468573" cy="3903783"/>
              <a:chOff x="0" y="0"/>
              <a:chExt cx="1870335" cy="77111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870335" cy="771118"/>
              </a:xfrm>
              <a:custGeom>
                <a:avLst/>
                <a:gdLst/>
                <a:ahLst/>
                <a:cxnLst/>
                <a:rect l="l" t="t" r="r" b="b"/>
                <a:pathLst>
                  <a:path w="1870335" h="771118">
                    <a:moveTo>
                      <a:pt x="0" y="0"/>
                    </a:moveTo>
                    <a:lnTo>
                      <a:pt x="1870335" y="0"/>
                    </a:lnTo>
                    <a:lnTo>
                      <a:pt x="1870335" y="771118"/>
                    </a:lnTo>
                    <a:lnTo>
                      <a:pt x="0" y="771118"/>
                    </a:lnTo>
                    <a:close/>
                  </a:path>
                </a:pathLst>
              </a:custGeom>
              <a:solidFill>
                <a:srgbClr val="A4F0FD">
                  <a:alpha val="33725"/>
                </a:srgbClr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66675"/>
                <a:ext cx="1870335" cy="837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9352529" y="0"/>
              <a:ext cx="88900" cy="3903783"/>
              <a:chOff x="0" y="0"/>
              <a:chExt cx="17560" cy="77111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7560" cy="771118"/>
              </a:xfrm>
              <a:custGeom>
                <a:avLst/>
                <a:gdLst/>
                <a:ahLst/>
                <a:cxnLst/>
                <a:rect l="l" t="t" r="r" b="b"/>
                <a:pathLst>
                  <a:path w="17560" h="771118">
                    <a:moveTo>
                      <a:pt x="0" y="0"/>
                    </a:moveTo>
                    <a:lnTo>
                      <a:pt x="17560" y="0"/>
                    </a:lnTo>
                    <a:lnTo>
                      <a:pt x="17560" y="771118"/>
                    </a:lnTo>
                    <a:lnTo>
                      <a:pt x="0" y="771118"/>
                    </a:lnTo>
                    <a:close/>
                  </a:path>
                </a:pathLst>
              </a:custGeom>
              <a:solidFill>
                <a:srgbClr val="415AC6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66675"/>
                <a:ext cx="17560" cy="837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</p:grpSp>
      <p:grpSp>
        <p:nvGrpSpPr>
          <p:cNvPr id="23" name="Group 23"/>
          <p:cNvGrpSpPr/>
          <p:nvPr/>
        </p:nvGrpSpPr>
        <p:grpSpPr>
          <a:xfrm rot="0">
            <a:off x="8747735" y="6330463"/>
            <a:ext cx="7101430" cy="2927837"/>
            <a:chOff x="0" y="0"/>
            <a:chExt cx="9468573" cy="3903783"/>
          </a:xfrm>
        </p:grpSpPr>
        <p:grpSp>
          <p:nvGrpSpPr>
            <p:cNvPr id="24" name="Group 24"/>
            <p:cNvGrpSpPr/>
            <p:nvPr/>
          </p:nvGrpSpPr>
          <p:grpSpPr>
            <a:xfrm rot="0">
              <a:off x="0" y="0"/>
              <a:ext cx="9468573" cy="3903783"/>
              <a:chOff x="0" y="0"/>
              <a:chExt cx="1870335" cy="77111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870335" cy="771118"/>
              </a:xfrm>
              <a:custGeom>
                <a:avLst/>
                <a:gdLst/>
                <a:ahLst/>
                <a:cxnLst/>
                <a:rect l="l" t="t" r="r" b="b"/>
                <a:pathLst>
                  <a:path w="1870335" h="771118">
                    <a:moveTo>
                      <a:pt x="0" y="0"/>
                    </a:moveTo>
                    <a:lnTo>
                      <a:pt x="1870335" y="0"/>
                    </a:lnTo>
                    <a:lnTo>
                      <a:pt x="1870335" y="771118"/>
                    </a:lnTo>
                    <a:lnTo>
                      <a:pt x="0" y="771118"/>
                    </a:lnTo>
                    <a:close/>
                  </a:path>
                </a:pathLst>
              </a:custGeom>
              <a:solidFill>
                <a:srgbClr val="A4F0FD">
                  <a:alpha val="33725"/>
                </a:srgbClr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66675"/>
                <a:ext cx="1870335" cy="837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 rot="0">
              <a:off x="9352529" y="0"/>
              <a:ext cx="88900" cy="3903783"/>
              <a:chOff x="0" y="0"/>
              <a:chExt cx="17560" cy="77111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7560" cy="771118"/>
              </a:xfrm>
              <a:custGeom>
                <a:avLst/>
                <a:gdLst/>
                <a:ahLst/>
                <a:cxnLst/>
                <a:rect l="l" t="t" r="r" b="b"/>
                <a:pathLst>
                  <a:path w="17560" h="771118">
                    <a:moveTo>
                      <a:pt x="0" y="0"/>
                    </a:moveTo>
                    <a:lnTo>
                      <a:pt x="17560" y="0"/>
                    </a:lnTo>
                    <a:lnTo>
                      <a:pt x="17560" y="771118"/>
                    </a:lnTo>
                    <a:lnTo>
                      <a:pt x="0" y="771118"/>
                    </a:lnTo>
                    <a:close/>
                  </a:path>
                </a:pathLst>
              </a:custGeom>
              <a:solidFill>
                <a:srgbClr val="415AC6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66675"/>
                <a:ext cx="17560" cy="837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1424020" y="3519940"/>
            <a:ext cx="6310790" cy="2108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75"/>
              </a:lnSpc>
            </a:pPr>
            <a:r>
              <a:rPr lang="en-US" sz="408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¡Cuida el tiempo de pantalla, incluso por tu salud!</a:t>
            </a:r>
            <a:endParaRPr lang="en-US" sz="408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424020" y="6344823"/>
            <a:ext cx="6310790" cy="280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75"/>
              </a:lnSpc>
              <a:spcBef>
                <a:spcPct val="0"/>
              </a:spcBef>
            </a:pPr>
            <a:r>
              <a:rPr lang="en-US" sz="4085" u="none" strike="noStrike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Use la tecnología para desarrollar la comunicación y la creatividad.</a:t>
            </a:r>
            <a:endParaRPr lang="en-US" sz="4085" u="none" strike="noStrike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069514" y="3172278"/>
            <a:ext cx="6457871" cy="280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75"/>
              </a:lnSpc>
              <a:spcBef>
                <a:spcPct val="0"/>
              </a:spcBef>
            </a:pPr>
            <a:r>
              <a:rPr lang="en-US" sz="4085" u="none" strike="noStrike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¡El balance es fundamental entre el entorno digital y el mundo real!</a:t>
            </a:r>
            <a:endParaRPr lang="en-US" sz="4085" u="none" strike="noStrike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9069514" y="7040148"/>
            <a:ext cx="6457871" cy="1413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75"/>
              </a:lnSpc>
              <a:spcBef>
                <a:spcPct val="0"/>
              </a:spcBef>
            </a:pPr>
            <a:r>
              <a:rPr lang="en-US" sz="4085" u="none" strike="noStrike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¡Aproveche el mundo digital para aprender!</a:t>
            </a:r>
            <a:endParaRPr lang="en-US" sz="4085" u="none" strike="noStrike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28700" y="1028700"/>
            <a:ext cx="1408488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80"/>
              </a:lnSpc>
              <a:spcBef>
                <a:spcPct val="0"/>
              </a:spcBef>
            </a:pPr>
            <a:r>
              <a:rPr lang="en-US" sz="7900">
                <a:solidFill>
                  <a:srgbClr val="415AC6"/>
                </a:solidFill>
                <a:latin typeface="Efour Digital Pro" panose="02000500000000000000"/>
                <a:ea typeface="Efour Digital Pro" panose="02000500000000000000"/>
                <a:cs typeface="Efour Digital Pro" panose="02000500000000000000"/>
                <a:sym typeface="Efour Digital Pro" panose="02000500000000000000"/>
              </a:rPr>
              <a:t>Uso digital</a:t>
            </a:r>
            <a:endParaRPr lang="en-US" sz="7900">
              <a:solidFill>
                <a:srgbClr val="415AC6"/>
              </a:solidFill>
              <a:latin typeface="Efour Digital Pro" panose="02000500000000000000"/>
              <a:ea typeface="Efour Digital Pro" panose="02000500000000000000"/>
              <a:cs typeface="Efour Digital Pro" panose="02000500000000000000"/>
              <a:sym typeface="Efour Digital Pro" panose="020005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45762" y="2881766"/>
            <a:ext cx="6574247" cy="5097758"/>
          </a:xfrm>
          <a:custGeom>
            <a:avLst/>
            <a:gdLst/>
            <a:ahLst/>
            <a:cxnLst/>
            <a:rect l="l" t="t" r="r" b="b"/>
            <a:pathLst>
              <a:path w="6574247" h="5097758">
                <a:moveTo>
                  <a:pt x="0" y="0"/>
                </a:moveTo>
                <a:lnTo>
                  <a:pt x="6574247" y="0"/>
                </a:lnTo>
                <a:lnTo>
                  <a:pt x="6574247" y="5097758"/>
                </a:lnTo>
                <a:lnTo>
                  <a:pt x="0" y="509775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6656" r="-2181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13500" y="866775"/>
            <a:ext cx="13419386" cy="777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0"/>
              </a:lnSpc>
              <a:spcBef>
                <a:spcPct val="0"/>
              </a:spcBef>
            </a:pPr>
            <a:r>
              <a:rPr lang="en-US" sz="4080" b="1">
                <a:solidFill>
                  <a:srgbClr val="415AC6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💡 Estrategia práctica: Activa la puerta emocional</a:t>
            </a:r>
            <a:endParaRPr lang="en-US" sz="4080" b="1">
              <a:solidFill>
                <a:srgbClr val="415AC6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23309" y="2260367"/>
            <a:ext cx="10936043" cy="6178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  <a:spcBef>
                <a:spcPct val="0"/>
              </a:spcBef>
            </a:pPr>
            <a:r>
              <a:rPr lang="en-US" sz="4080" b="1">
                <a:solidFill>
                  <a:srgbClr val="415AC6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No empieces tu clase con:</a:t>
            </a:r>
            <a:endParaRPr lang="en-US" sz="4080" b="1">
              <a:solidFill>
                <a:srgbClr val="415AC6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ctr">
              <a:lnSpc>
                <a:spcPts val="6120"/>
              </a:lnSpc>
              <a:spcBef>
                <a:spcPct val="0"/>
              </a:spcBef>
            </a:pPr>
            <a:r>
              <a:rPr lang="en-US" sz="40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❌ "Hoy vamos a ver los planetas."</a:t>
            </a:r>
            <a:endParaRPr lang="en-US" sz="408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6120"/>
              </a:lnSpc>
              <a:spcBef>
                <a:spcPct val="0"/>
              </a:spcBef>
            </a:pPr>
          </a:p>
          <a:p>
            <a:pPr algn="ctr">
              <a:lnSpc>
                <a:spcPts val="6120"/>
              </a:lnSpc>
              <a:spcBef>
                <a:spcPct val="0"/>
              </a:spcBef>
            </a:pPr>
            <a:r>
              <a:rPr lang="en-US" sz="4080" b="1">
                <a:solidFill>
                  <a:srgbClr val="415AC6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Sino con:</a:t>
            </a:r>
            <a:endParaRPr lang="en-US" sz="4080" b="1">
              <a:solidFill>
                <a:srgbClr val="415AC6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ctr">
              <a:lnSpc>
                <a:spcPts val="6120"/>
              </a:lnSpc>
              <a:spcBef>
                <a:spcPct val="0"/>
              </a:spcBef>
            </a:pPr>
            <a:r>
              <a:rPr lang="en-US" sz="40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✅ "Imagina que sales al espacio sin traje… ¿qué pasaría en 15 segundos?" Esto genera curiosidad, misterio o impacto emocional —y abre la puerta al cerebro.</a:t>
            </a:r>
            <a:endParaRPr lang="en-US" sz="408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03914" y="1317833"/>
            <a:ext cx="12333188" cy="8229600"/>
          </a:xfrm>
          <a:custGeom>
            <a:avLst/>
            <a:gdLst/>
            <a:ahLst/>
            <a:cxnLst/>
            <a:rect l="l" t="t" r="r" b="b"/>
            <a:pathLst>
              <a:path w="12333188" h="8229600">
                <a:moveTo>
                  <a:pt x="0" y="0"/>
                </a:moveTo>
                <a:lnTo>
                  <a:pt x="12333188" y="0"/>
                </a:lnTo>
                <a:lnTo>
                  <a:pt x="123331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95254" y="3541419"/>
            <a:ext cx="4827422" cy="412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080" b="1">
                <a:solidFill>
                  <a:srgbClr val="415AC6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Tip</a:t>
            </a:r>
            <a:r>
              <a:rPr lang="en-US" sz="3080" b="1">
                <a:solidFill>
                  <a:srgbClr val="415AC6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o de emoción</a:t>
            </a:r>
            <a:endParaRPr lang="en-US" sz="3080" b="1">
              <a:solidFill>
                <a:srgbClr val="415AC6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marL="579120" lvl="1" indent="-289560" algn="l">
              <a:lnSpc>
                <a:spcPts val="4020"/>
              </a:lnSpc>
              <a:buFont typeface="Arial" panose="020B0604020202020204"/>
              <a:buChar char="•"/>
            </a:pPr>
            <a:r>
              <a:rPr lang="en-US" sz="26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Sorpresa</a:t>
            </a:r>
            <a:endParaRPr lang="en-US" sz="268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20"/>
              </a:lnSpc>
            </a:pPr>
          </a:p>
          <a:p>
            <a:pPr marL="579120" lvl="1" indent="-289560" algn="l">
              <a:lnSpc>
                <a:spcPts val="4020"/>
              </a:lnSpc>
              <a:buFont typeface="Arial" panose="020B0604020202020204"/>
              <a:buChar char="•"/>
            </a:pPr>
            <a:r>
              <a:rPr lang="en-US" sz="26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Identificación</a:t>
            </a:r>
            <a:endParaRPr lang="en-US" sz="268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20"/>
              </a:lnSpc>
            </a:pPr>
          </a:p>
          <a:p>
            <a:pPr algn="l">
              <a:lnSpc>
                <a:spcPts val="4020"/>
              </a:lnSpc>
            </a:pPr>
          </a:p>
          <a:p>
            <a:pPr marL="579120" lvl="1" indent="-289560" algn="l">
              <a:lnSpc>
                <a:spcPts val="4020"/>
              </a:lnSpc>
              <a:buFont typeface="Arial" panose="020B0604020202020204"/>
              <a:buChar char="•"/>
            </a:pPr>
            <a:r>
              <a:rPr lang="en-US" sz="26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Impacto</a:t>
            </a:r>
            <a:endParaRPr lang="en-US" sz="268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57605" lvl="2" indent="-386080" algn="l">
              <a:lnSpc>
                <a:spcPts val="4020"/>
              </a:lnSpc>
              <a:buFont typeface="Arial" panose="020B0604020202020204"/>
              <a:buChar char="⚬"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1486002" y="717326"/>
            <a:ext cx="14284506" cy="1478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0"/>
              </a:lnSpc>
            </a:pPr>
            <a:r>
              <a:rPr lang="en-US" sz="4860" spc="-97">
                <a:solidFill>
                  <a:srgbClr val="415AC6"/>
                </a:solidFill>
                <a:latin typeface="Efour Digital Pro" panose="02000500000000000000"/>
                <a:ea typeface="Efour Digital Pro" panose="02000500000000000000"/>
                <a:cs typeface="Efour Digital Pro" panose="02000500000000000000"/>
                <a:sym typeface="Efour Digital Pro" panose="02000500000000000000"/>
              </a:rPr>
              <a:t> Tres formas pràcticas de usar la emoción:</a:t>
            </a:r>
            <a:endParaRPr lang="en-US" sz="4860" spc="-97">
              <a:solidFill>
                <a:srgbClr val="415AC6"/>
              </a:solidFill>
              <a:latin typeface="Efour Digital Pro" panose="02000500000000000000"/>
              <a:ea typeface="Efour Digital Pro" panose="02000500000000000000"/>
              <a:cs typeface="Efour Digital Pro" panose="02000500000000000000"/>
              <a:sym typeface="Efour Digital Pro" panose="02000500000000000000"/>
            </a:endParaRPr>
          </a:p>
          <a:p>
            <a:pPr marL="0" lvl="0" indent="0" algn="l">
              <a:lnSpc>
                <a:spcPts val="5830"/>
              </a:lnSpc>
              <a:spcBef>
                <a:spcPct val="0"/>
              </a:spcBef>
            </a:pPr>
          </a:p>
        </p:txBody>
      </p:sp>
      <p:sp>
        <p:nvSpPr>
          <p:cNvPr id="5" name="TextBox 5"/>
          <p:cNvSpPr txBox="1"/>
          <p:nvPr/>
        </p:nvSpPr>
        <p:spPr>
          <a:xfrm>
            <a:off x="5188892" y="3560469"/>
            <a:ext cx="8830044" cy="4580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880" b="1">
                <a:solidFill>
                  <a:srgbClr val="415AC6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Ej</a:t>
            </a:r>
            <a:r>
              <a:rPr lang="en-US" sz="2880" b="1">
                <a:solidFill>
                  <a:srgbClr val="415AC6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emplo en clase</a:t>
            </a:r>
            <a:endParaRPr lang="en-US" sz="2880" b="1">
              <a:solidFill>
                <a:srgbClr val="415AC6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marL="579120" lvl="1" indent="-289560" algn="l">
              <a:lnSpc>
                <a:spcPts val="4020"/>
              </a:lnSpc>
              <a:buFont typeface="Arial" panose="020B0604020202020204"/>
              <a:buChar char="•"/>
            </a:pPr>
            <a:r>
              <a:rPr lang="en-US" sz="26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"Este animal duerme 20 horas… ¡y es carnívoro!"</a:t>
            </a:r>
            <a:endParaRPr lang="en-US" sz="268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20"/>
              </a:lnSpc>
            </a:pPr>
          </a:p>
          <a:p>
            <a:pPr marL="579120" lvl="1" indent="-289560" algn="l">
              <a:lnSpc>
                <a:spcPts val="4020"/>
              </a:lnSpc>
              <a:buFont typeface="Arial" panose="020B0604020202020204"/>
              <a:buChar char="•"/>
            </a:pPr>
            <a:r>
              <a:rPr lang="en-US" sz="26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"</a:t>
            </a:r>
            <a:r>
              <a:rPr lang="en-US" sz="26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¿Alguna vez te han dicho que no puedes hacer algo solo por tu edad?"</a:t>
            </a:r>
            <a:endParaRPr lang="en-US" sz="268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20"/>
              </a:lnSpc>
            </a:pPr>
          </a:p>
          <a:p>
            <a:pPr marL="579120" lvl="1" indent="-289560" algn="l">
              <a:lnSpc>
                <a:spcPts val="4020"/>
              </a:lnSpc>
              <a:buFont typeface="Arial" panose="020B0604020202020204"/>
              <a:buChar char="•"/>
            </a:pPr>
            <a:r>
              <a:rPr lang="en-US" sz="26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"Si desapareciera el agua, en 3 días moriríamos todos."</a:t>
            </a:r>
            <a:endParaRPr lang="en-US" sz="268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57605" lvl="2" indent="-386080" algn="l">
              <a:lnSpc>
                <a:spcPts val="4020"/>
              </a:lnSpc>
              <a:buFont typeface="Arial" panose="020B0604020202020204"/>
              <a:buChar char="⚬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1419</Words>
  <Application>WPS Presentation</Application>
  <PresentationFormat>On-screen Show (4:3)</PresentationFormat>
  <Paragraphs>56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SimSun</vt:lpstr>
      <vt:lpstr>Wingdings</vt:lpstr>
      <vt:lpstr>Poppins</vt:lpstr>
      <vt:lpstr>Efour Digital Pro</vt:lpstr>
      <vt:lpstr>Poppins Bold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Capsula Neuroeducativa 1</dc:title>
  <dc:creator/>
  <cp:lastModifiedBy>Edwin</cp:lastModifiedBy>
  <cp:revision>2</cp:revision>
  <dcterms:created xsi:type="dcterms:W3CDTF">2006-08-16T00:00:00Z</dcterms:created>
  <dcterms:modified xsi:type="dcterms:W3CDTF">2026-01-26T01:52:43Z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3F2908ECB7D942C69BC67DDCB2F280F6_12</vt:lpwstr>
  </property>
  <property fmtid="{D5CDD505-2E9C-101B-9397-08002B2CF9AE}" pid="3" name="KSOProductBuildVer">
    <vt:lpwstr>2058-12.2.0.23196</vt:lpwstr>
  </property>
</Properties>
</file>